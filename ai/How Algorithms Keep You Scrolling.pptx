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020192"/>
            <a:ext cx="11581447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00000"/>
                </a:solidFill>
                <a:latin typeface="Poppins"/>
              </a:rPr>
              <a:t>How Algorithms Keep You Scrolling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0812" y="4268092"/>
            <a:ext cx="6810375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CBD5E1"/>
                </a:solidFill>
                <a:latin typeface="Inter Medium"/>
              </a:rPr>
              <a:t>The Psychology &amp; Neuroscience Behind Infinite Feeds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0455" y="2104132"/>
            <a:ext cx="8711088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Poppins"/>
              </a:rPr>
              <a:t>The Mechanics of the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18632"/>
            <a:ext cx="7620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CBD5E1"/>
                </a:solidFill>
                <a:latin typeface="Inter"/>
              </a:rPr>
              <a:t>Explaining how variable rewards and UX patterns successfully hijack human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14537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2054125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F8FAFC"/>
                </a:solidFill>
                <a:latin typeface="Inter"/>
              </a:rPr>
              <a:t>B.F. Skinner's Variable Reward Schedule: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Unpredictable outcomes create significantly higher engagement than predictable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297733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F8FAFC"/>
                </a:solidFill>
                <a:latin typeface="Inter"/>
              </a:rPr>
              <a:t>The Pull-to-Refresh Mechanism: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Deliberately designed to physically mimic the lever of a casino slot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541341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F8FAFC"/>
                </a:solidFill>
                <a:latin typeface="Inter"/>
              </a:rPr>
              <a:t>Anticipation over Reward: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largest dopamine release is triggered by the search itself, not just the content discovered.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24062"/>
            <a:ext cx="5210175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073175"/>
            <a:ext cx="1047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8B5CF6"/>
                </a:solidFill>
                <a:latin typeface="Inter"/>
              </a:rPr>
              <a:t>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316783"/>
            <a:ext cx="1047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8B5CF6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560391"/>
            <a:ext cx="1047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8B5CF6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6B6D4"/>
                </a:solidFill>
                <a:latin typeface="Poppins"/>
              </a:rPr>
              <a:t>The Slot Machine in Your Pocket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53865"/>
            <a:ext cx="5276850" cy="31313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353865"/>
            <a:ext cx="5276850" cy="31313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9167" y="2868215"/>
            <a:ext cx="45205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6B6D4"/>
                </a:solidFill>
                <a:latin typeface="Poppins"/>
              </a:rPr>
              <a:t>Traditional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515915"/>
            <a:ext cx="430530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Newspapers, Books, and Television broadcasts had natural stopping points and physical constraints that automatically allowed the brain to disengage.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2267" y="2868215"/>
            <a:ext cx="45205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8B5CF6"/>
                </a:solidFill>
                <a:latin typeface="Poppins"/>
              </a:rPr>
              <a:t>Infinite Feeds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515915"/>
            <a:ext cx="430530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TikTok, Reels, and Shorts remove all friction and stopping cues, keeping the brain locked in a state of passive, perpetual consumption.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6B6D4"/>
                </a:solidFill>
                <a:latin typeface="Poppins"/>
              </a:rPr>
              <a:t>Endless Feeds vs Stopping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47950"/>
            <a:ext cx="5229225" cy="1524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81450"/>
            <a:ext cx="5229225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86325"/>
            <a:ext cx="52292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8FAFC"/>
                </a:solidFill>
                <a:latin typeface="Times New Roman SemiBold"/>
              </a:rPr>
              <a:t>Average Daily Time Spent on Social Feeds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2877740"/>
            <a:ext cx="54906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8B5CF6"/>
                </a:solidFill>
                <a:latin typeface="Poppins"/>
              </a:rPr>
              <a:t>The Cost of Distraction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3477815"/>
            <a:ext cx="522922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When attention is fragmented by frequent screen checks and notifications, it requires up to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23 minutes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to fully regain a state of deep cognitive focus after a single digital interruption.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6B6D4"/>
                </a:solidFill>
                <a:latin typeface="Poppins"/>
              </a:rPr>
              <a:t>The Scale of Digital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5613" y="2104132"/>
            <a:ext cx="6180772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Poppins"/>
              </a:rPr>
              <a:t>The Brain on Feeds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18632"/>
            <a:ext cx="7620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CBD5E1"/>
                </a:solidFill>
                <a:latin typeface="Inter"/>
              </a:rPr>
              <a:t>Uncovering the neurochemical cascade driving endless scrolling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63303"/>
            <a:ext cx="3422600" cy="45124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1663303"/>
            <a:ext cx="3422600" cy="45124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225" y="1663303"/>
            <a:ext cx="3422600" cy="45124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000" y="2053828"/>
            <a:ext cx="952500" cy="95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2089" y="3244453"/>
            <a:ext cx="25803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F8FAFC"/>
                </a:solidFill>
                <a:latin typeface="Poppins"/>
              </a:rPr>
              <a:t>Dopamine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44528"/>
            <a:ext cx="28320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Micro-doses of dopamine are consistently released in anticipation of novelty, creating a compulsive cycle.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601" y="2053828"/>
            <a:ext cx="952500" cy="952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9099" y="3244453"/>
            <a:ext cx="29736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F8FAFC"/>
                </a:solidFill>
                <a:latin typeface="Poppins"/>
              </a:rPr>
              <a:t>Limbic Dominance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9900" y="4301728"/>
            <a:ext cx="28320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Long scrolling sessions reduce prefrontal cortex activity, bypassing rational choice and self-control.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3201" y="2053828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59296" y="3244453"/>
            <a:ext cx="24803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F8FAFC"/>
                </a:solidFill>
                <a:latin typeface="Poppins"/>
              </a:rPr>
              <a:t>Negativity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3500" y="3844528"/>
            <a:ext cx="28320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Algorithmic feeds actively leverage high-arousal emotions, like outrage, to drive continuous interaction.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4125" y="2291953"/>
            <a:ext cx="476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6301" y="2291953"/>
            <a:ext cx="41910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99414" y="2291953"/>
            <a:ext cx="600075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6B6D4"/>
                </a:solidFill>
                <a:latin typeface="Poppins"/>
              </a:rPr>
              <a:t>Neurochemistry of the Scroll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62100"/>
            <a:ext cx="11029950" cy="4714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4488358"/>
            <a:ext cx="857250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Frequent social checking artificially lowers cognitive capacity. Moving between tasks in short, 15-minute bursts creates perpetual mental fatigue and significantly degrades the quality of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6B6D4"/>
                </a:solidFill>
                <a:latin typeface="Poppins"/>
              </a:rPr>
              <a:t>Focus Fragmentation &amp; Workday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0" y="1885354"/>
            <a:ext cx="8953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F8FAFC"/>
                </a:solidFill>
                <a:latin typeface="Inter SemiBold"/>
              </a:rPr>
              <a:t>Grayscale Display:</a:t>
            </a:r>
            <a:r>
              <a:rPr b="0" sz="1800" i="0" u="none">
                <a:solidFill>
                  <a:srgbClr val="CBD5E1"/>
                </a:solidFill>
                <a:latin typeface="Inter"/>
              </a:rPr>
              <a:t> Remove vibrant visual triggers that naturally attract your eyes to notification badges and icons.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2902446"/>
            <a:ext cx="8953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F8FAFC"/>
                </a:solidFill>
                <a:latin typeface="Inter SemiBold"/>
              </a:rPr>
              <a:t>Intentional Friction:</a:t>
            </a:r>
            <a:r>
              <a:rPr b="0" sz="1800" i="0" u="none">
                <a:solidFill>
                  <a:srgbClr val="CBD5E1"/>
                </a:solidFill>
                <a:latin typeface="Inter"/>
              </a:rPr>
              <a:t> Log out of applications after use or move social folders off your primary home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3919537"/>
            <a:ext cx="8953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F8FAFC"/>
                </a:solidFill>
                <a:latin typeface="Inter SemiBold"/>
              </a:rPr>
              <a:t>Time-Boxing &amp; Boundaries:</a:t>
            </a:r>
            <a:r>
              <a:rPr b="0" sz="1800" i="0" u="none">
                <a:solidFill>
                  <a:srgbClr val="CBD5E1"/>
                </a:solidFill>
                <a:latin typeface="Inter"/>
              </a:rPr>
              <a:t> Establish phone-free zones, especially during morning routines and before bedtime.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4936628"/>
            <a:ext cx="8953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F8FAFC"/>
                </a:solidFill>
                <a:latin typeface="Inter SemiBold"/>
              </a:rPr>
              <a:t>Replacement Habits:</a:t>
            </a:r>
            <a:r>
              <a:rPr b="0" sz="1800" i="0" u="none">
                <a:solidFill>
                  <a:srgbClr val="CBD5E1"/>
                </a:solidFill>
                <a:latin typeface="Inter"/>
              </a:rPr>
              <a:t> Replace passive scrolling with low-dopamine, restorative activities like reading or walking.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957637"/>
            <a:ext cx="428625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1918692"/>
            <a:ext cx="361950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935783"/>
            <a:ext cx="285750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969966"/>
            <a:ext cx="323850" cy="2952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6B6D4"/>
                </a:solidFill>
                <a:latin typeface="Poppins"/>
              </a:rPr>
              <a:t>Reclaiming Your Attention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5396" y="1941314"/>
            <a:ext cx="966120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00000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95900" y="3370064"/>
            <a:ext cx="16002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CBD5E1"/>
                </a:solidFill>
                <a:latin typeface="Inter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6912" y="4286250"/>
            <a:ext cx="82581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CBD5E1"/>
                </a:solidFill>
                <a:latin typeface="Inter Medium"/>
              </a:rPr>
              <a:t>What strategies do you use to manage your screen time?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68141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3575744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https://static.vecteezy.com/system/resources/thumbnails/079/592/555/small/high-tech-smartphone-display-showcasing-a-futuristic-digital-interface-with-glowing-concentric-circles-on-a-dark-abstract-background-free-photo.jpg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4019550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6B6D4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